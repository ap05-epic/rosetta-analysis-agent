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Anshuman opens: name the problem in one line, introduce the four of us fast, then straight into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Anshuman: numbers on the left, pause on the red 1. Then walk the four stages left to right — one breath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Reed: the browser calls the parser first and waits for the verdict. A PASS ends it right there — the model is never called. Only a FAIL triggers the second call. Neither service ever calls the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Anshuman: this is the week-one whiteboard. Every box on it shipped, and the parser contract never 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Reed: the differentiator. Walk the four-step check left to right, then land 17 of 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Reshaud: Play the recorded demo. Narrate over it: upload, parser verdict, model call, cards fill, then stop on the evidence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Cristian: read the ledger, then the buried-warning case, then the contrast. This is the proof slide — don't rush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Cristian: operations value, not AI value. This is the slide for the non-engineers on the panel.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Whole team: each of us takes the column closest to our work. Be honest about the two lost days, end on DIGIT and the reactive-to-self-healing arc, then thank the panel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580544"/>
            <a:ext cx="57096" cy="1866846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3" name="Text 1"/>
          <p:cNvSpPr/>
          <p:nvPr/>
        </p:nvSpPr>
        <p:spPr>
          <a:xfrm>
            <a:off x="1333365" y="2410880"/>
            <a:ext cx="6426696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417"/>
              </a:lnSpc>
              <a:buNone/>
            </a:pPr>
            <a:r>
              <a:rPr lang="en-US" sz="9000" b="1" spc="-22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Rosetta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1352306" y="3763322"/>
            <a:ext cx="6405860" cy="453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analysis in plain English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352306" y="4331304"/>
            <a:ext cx="64058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 challenge final pitch · Group V · 6 August 2026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52500" y="6266070"/>
            <a:ext cx="16382999" cy="9525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52500" y="6656541"/>
            <a:ext cx="1428750" cy="1428750"/>
          </a:xfrm>
          <a:prstGeom prst="ellipse">
            <a:avLst/>
          </a:prstGeom>
          <a:ln w="8659">
            <a:solidFill>
              <a:srgbClr val="7676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2500" y="8313809"/>
            <a:ext cx="400243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24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Reshaud Miller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952500" y="8790059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8990030"/>
            <a:ext cx="4002435" cy="342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4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EVT/DA Data Migrations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52500" y="9351818"/>
            <a:ext cx="4002435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Migrations Engineer Intern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200596" y="6656541"/>
            <a:ext cx="1428750" cy="1428750"/>
          </a:xfrm>
          <a:prstGeom prst="ellipse">
            <a:avLst/>
          </a:prstGeom>
          <a:ln w="8659">
            <a:solidFill>
              <a:srgbClr val="7676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00596" y="8313809"/>
            <a:ext cx="400258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24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Reed Lai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5200596" y="8790059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5200596" y="8990030"/>
            <a:ext cx="4002583" cy="342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4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WMA Tech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00596" y="9351818"/>
            <a:ext cx="4002583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 Intern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448827" y="6656541"/>
            <a:ext cx="1428750" cy="1428750"/>
          </a:xfrm>
          <a:prstGeom prst="ellipse">
            <a:avLst/>
          </a:prstGeom>
          <a:ln w="8659">
            <a:solidFill>
              <a:srgbClr val="7676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48827" y="8313809"/>
            <a:ext cx="400243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24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Anshuman Pandey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9448827" y="8790059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9448827" y="8990030"/>
            <a:ext cx="4002435" cy="342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48"/>
              </a:lnSpc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Division to confirm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448827" y="9351818"/>
            <a:ext cx="4002435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 Intern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696922" y="6656541"/>
            <a:ext cx="1428750" cy="1428750"/>
          </a:xfrm>
          <a:prstGeom prst="ellipse">
            <a:avLst/>
          </a:prstGeom>
          <a:ln w="8659">
            <a:solidFill>
              <a:srgbClr val="7676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696922" y="8313809"/>
            <a:ext cx="400243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24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Cristian Lorenzo-Pavon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13696922" y="8790059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13696922" y="8990030"/>
            <a:ext cx="4002435" cy="342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4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STAAT Insights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696922" y="9351818"/>
            <a:ext cx="4002435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 Intern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4877"/>
            <a:ext cx="47625" cy="419019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3" name="Text 1"/>
          <p:cNvSpPr/>
          <p:nvPr/>
        </p:nvSpPr>
        <p:spPr>
          <a:xfrm>
            <a:off x="1209567" y="762000"/>
            <a:ext cx="7949951" cy="523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500-line log. One line that matters.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52500" y="1475428"/>
            <a:ext cx="16382999" cy="9525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76275" y="3312237"/>
            <a:ext cx="3038475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1636"/>
              </a:lnSpc>
              <a:buNone/>
            </a:pPr>
            <a:r>
              <a:rPr lang="en-US" sz="7200" b="1" spc="-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496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943269" y="3857760"/>
            <a:ext cx="1989994" cy="7064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in one failed pipeline run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76275" y="4716634"/>
            <a:ext cx="3038475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1636"/>
              </a:lnSpc>
              <a:buNone/>
            </a:pPr>
            <a:r>
              <a:rPr lang="en-US" sz="7200" b="1" spc="-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3943269" y="5288134"/>
            <a:ext cx="216500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them are errors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76275" y="5867075"/>
            <a:ext cx="3038475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7302"/>
              </a:lnSpc>
              <a:buNone/>
            </a:pPr>
            <a:r>
              <a:rPr lang="en-US" sz="11250" b="1" spc="-300" kern="0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250" dirty="0"/>
          </a:p>
        </p:txBody>
      </p:sp>
      <p:sp>
        <p:nvSpPr>
          <p:cNvPr id="10" name="Text 8"/>
          <p:cNvSpPr/>
          <p:nvPr/>
        </p:nvSpPr>
        <p:spPr>
          <a:xfrm>
            <a:off x="3943269" y="6845553"/>
            <a:ext cx="242262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actual cause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52500" y="7524344"/>
            <a:ext cx="6307335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other 18 are what it broke on the way down.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72133" y="1484899"/>
            <a:ext cx="9525" cy="8135351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067296" y="3165304"/>
            <a:ext cx="10195024" cy="349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logs to a plain-English answer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067296" y="3591223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8067296" y="3867366"/>
            <a:ext cx="954625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63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Rosetta reads the log, finds the failure that caused the others, explains it in plain English, and shows you the exact lines that prove it.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8067296" y="5143635"/>
            <a:ext cx="1884164" cy="599101"/>
          </a:xfrm>
          <a:prstGeom prst="rect">
            <a:avLst/>
          </a:prstGeom>
          <a:solidFill>
            <a:srgbClr val="767676">
              <a:alpha val="8000"/>
            </a:srgbClr>
          </a:solidFill>
          <a:ln w="8659">
            <a:solidFill>
              <a:srgbClr val="767676">
                <a:alpha val="3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47405" y="5304694"/>
            <a:ext cx="1600146" cy="315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10084729" y="5433715"/>
            <a:ext cx="247596" cy="18942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10484670" y="5304640"/>
            <a:ext cx="4644628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log file, any format, no configuration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8067296" y="5876005"/>
            <a:ext cx="1884164" cy="599101"/>
          </a:xfrm>
          <a:prstGeom prst="rect">
            <a:avLst/>
          </a:prstGeom>
          <a:solidFill>
            <a:srgbClr val="767676">
              <a:alpha val="8000"/>
            </a:srgbClr>
          </a:solidFill>
          <a:ln w="8659">
            <a:solidFill>
              <a:srgbClr val="767676">
                <a:alpha val="3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47405" y="6037064"/>
            <a:ext cx="1600146" cy="315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10084729" y="6166084"/>
            <a:ext cx="247596" cy="18942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10484670" y="6037010"/>
            <a:ext cx="6231136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classification into time / file / status / description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8067296" y="6608375"/>
            <a:ext cx="1884164" cy="599101"/>
          </a:xfrm>
          <a:prstGeom prst="rect">
            <a:avLst/>
          </a:prstGeom>
          <a:solidFill>
            <a:srgbClr val="767676">
              <a:alpha val="8000"/>
            </a:srgbClr>
          </a:solidFill>
          <a:ln w="8659">
            <a:solidFill>
              <a:srgbClr val="767676">
                <a:alpha val="3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47405" y="6769434"/>
            <a:ext cx="1600146" cy="315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10084729" y="6898454"/>
            <a:ext cx="247596" cy="18942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10484670" y="6769379"/>
            <a:ext cx="5619898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GPT-5.4 agent investigates with tools, cites lines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8067296" y="7340744"/>
            <a:ext cx="1884164" cy="599101"/>
          </a:xfrm>
          <a:prstGeom prst="rect">
            <a:avLst/>
          </a:prstGeom>
          <a:solidFill>
            <a:srgbClr val="767676">
              <a:alpha val="8000"/>
            </a:srgbClr>
          </a:solidFill>
          <a:ln w="8659">
            <a:solidFill>
              <a:srgbClr val="767676">
                <a:alpha val="3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47405" y="7501803"/>
            <a:ext cx="1600146" cy="315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10084729" y="7630824"/>
            <a:ext cx="247596" cy="18942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10484670" y="7501749"/>
            <a:ext cx="6436370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cause, recommended fix, and the evidence behind both</a:t>
            </a:r>
            <a:endParaRPr lang="en-US" sz="18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4877"/>
            <a:ext cx="47625" cy="419019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3" name="Text 1"/>
          <p:cNvSpPr/>
          <p:nvPr/>
        </p:nvSpPr>
        <p:spPr>
          <a:xfrm>
            <a:off x="1209567" y="762000"/>
            <a:ext cx="10425707" cy="523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parser runs first. The agent only if it has to.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52500" y="1475428"/>
            <a:ext cx="16382999" cy="9525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533190"/>
            <a:ext cx="2381250" cy="1428750"/>
          </a:xfrm>
          <a:prstGeom prst="rect">
            <a:avLst/>
          </a:prstGeom>
          <a:solidFill>
            <a:srgbClr val="767676">
              <a:alpha val="8000"/>
            </a:srgbClr>
          </a:solidFill>
          <a:ln w="8659">
            <a:solidFill>
              <a:srgbClr val="767676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0601" y="2713272"/>
            <a:ext cx="2139553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170601" y="3083854"/>
            <a:ext cx="2139553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70601" y="3352286"/>
            <a:ext cx="2139553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67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:3000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390846" y="2514113"/>
            <a:ext cx="355591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390846" y="2799863"/>
            <a:ext cx="1935658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/classify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33750" y="3237959"/>
            <a:ext cx="1952625" cy="18942"/>
          </a:xfrm>
          <a:prstGeom prst="rect">
            <a:avLst/>
          </a:prstGeom>
          <a:solidFill>
            <a:srgbClr val="E60000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86375" y="3180863"/>
            <a:ext cx="104721" cy="13326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429250" y="2533190"/>
            <a:ext cx="3238500" cy="1428750"/>
          </a:xfrm>
          <a:prstGeom prst="rect">
            <a:avLst/>
          </a:prstGeom>
          <a:solidFill>
            <a:srgbClr val="767676">
              <a:alpha val="8000"/>
            </a:srgbClr>
          </a:solidFill>
          <a:ln w="8659">
            <a:solidFill>
              <a:srgbClr val="767676">
                <a:alpha val="3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47351" y="2713272"/>
            <a:ext cx="3082528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parser</a:t>
            </a:r>
            <a:endParaRPr lang="en-US" sz="2025" dirty="0"/>
          </a:p>
        </p:txBody>
      </p:sp>
      <p:sp>
        <p:nvSpPr>
          <p:cNvPr id="15" name="Text 12"/>
          <p:cNvSpPr/>
          <p:nvPr/>
        </p:nvSpPr>
        <p:spPr>
          <a:xfrm>
            <a:off x="5647351" y="3083854"/>
            <a:ext cx="3082528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67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· :8000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647351" y="3352286"/>
            <a:ext cx="3082528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deterministic, no model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667749" y="3237959"/>
            <a:ext cx="457173" cy="18942"/>
          </a:xfrm>
          <a:prstGeom prst="rect">
            <a:avLst/>
          </a:prstGeom>
          <a:solidFill>
            <a:srgbClr val="E60000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24923" y="3180863"/>
            <a:ext cx="104721" cy="133269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9334499" y="2771315"/>
            <a:ext cx="2476500" cy="952500"/>
          </a:xfrm>
          <a:prstGeom prst="rect">
            <a:avLst/>
          </a:prstGeom>
          <a:ln w="8659">
            <a:solidFill>
              <a:srgbClr val="767676">
                <a:alpha val="35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533659" y="2951397"/>
            <a:ext cx="2286000" cy="349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/ FAIL</a:t>
            </a:r>
            <a:endParaRPr lang="en-US" sz="2100" dirty="0"/>
          </a:p>
        </p:txBody>
      </p:sp>
      <p:sp>
        <p:nvSpPr>
          <p:cNvPr id="21" name="Text 17"/>
          <p:cNvSpPr/>
          <p:nvPr/>
        </p:nvSpPr>
        <p:spPr>
          <a:xfrm>
            <a:off x="9533659" y="3301143"/>
            <a:ext cx="2286000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error category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11887172" y="2876036"/>
            <a:ext cx="681795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1811000" y="3237959"/>
            <a:ext cx="809625" cy="18942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24" name="Shape 20"/>
          <p:cNvSpPr/>
          <p:nvPr/>
        </p:nvSpPr>
        <p:spPr>
          <a:xfrm>
            <a:off x="12801519" y="2914190"/>
            <a:ext cx="66567" cy="666750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25" name="Shape 21"/>
          <p:cNvSpPr/>
          <p:nvPr/>
        </p:nvSpPr>
        <p:spPr>
          <a:xfrm>
            <a:off x="13049250" y="2533190"/>
            <a:ext cx="4286250" cy="1428750"/>
          </a:xfrm>
          <a:prstGeom prst="rect">
            <a:avLst/>
          </a:prstGeom>
          <a:solidFill>
            <a:srgbClr val="767676">
              <a:alpha val="8000"/>
            </a:srgbClr>
          </a:solidFill>
          <a:ln w="8659">
            <a:solidFill>
              <a:srgbClr val="767676">
                <a:alpha val="3500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3267351" y="2713272"/>
            <a:ext cx="4235053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Stop. Model never called.</a:t>
            </a:r>
            <a:endParaRPr lang="en-US" sz="2025" dirty="0"/>
          </a:p>
        </p:txBody>
      </p:sp>
      <p:sp>
        <p:nvSpPr>
          <p:cNvPr id="27" name="Shape 23"/>
          <p:cNvSpPr/>
          <p:nvPr/>
        </p:nvSpPr>
        <p:spPr>
          <a:xfrm>
            <a:off x="13267351" y="3102931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28" name="Text 24"/>
          <p:cNvSpPr/>
          <p:nvPr/>
        </p:nvSpPr>
        <p:spPr>
          <a:xfrm>
            <a:off x="13267351" y="3245671"/>
            <a:ext cx="4235053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agent request. No token cost.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10563144" y="3723815"/>
            <a:ext cx="17318" cy="609519"/>
          </a:xfrm>
          <a:prstGeom prst="rect">
            <a:avLst/>
          </a:prstGeom>
          <a:solidFill>
            <a:srgbClr val="767676"/>
          </a:solidFill>
          <a:ln/>
        </p:spPr>
      </p:sp>
      <p:sp>
        <p:nvSpPr>
          <p:cNvPr id="30" name="Shape 26"/>
          <p:cNvSpPr/>
          <p:nvPr/>
        </p:nvSpPr>
        <p:spPr>
          <a:xfrm>
            <a:off x="2143125" y="4333334"/>
            <a:ext cx="8420019" cy="17318"/>
          </a:xfrm>
          <a:prstGeom prst="rect">
            <a:avLst/>
          </a:prstGeom>
          <a:solidFill>
            <a:srgbClr val="767676"/>
          </a:solidFill>
          <a:ln/>
        </p:spPr>
      </p:sp>
      <p:sp>
        <p:nvSpPr>
          <p:cNvPr id="31" name="Shape 27"/>
          <p:cNvSpPr/>
          <p:nvPr/>
        </p:nvSpPr>
        <p:spPr>
          <a:xfrm>
            <a:off x="2133519" y="3961940"/>
            <a:ext cx="17318" cy="381000"/>
          </a:xfrm>
          <a:prstGeom prst="rect">
            <a:avLst/>
          </a:prstGeom>
          <a:solidFill>
            <a:srgbClr val="767676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76423" y="3857084"/>
            <a:ext cx="133269" cy="104721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3810000" y="4438190"/>
            <a:ext cx="3256359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returns to the browser</a:t>
            </a:r>
            <a:endParaRPr lang="en-US" sz="1800" dirty="0"/>
          </a:p>
        </p:txBody>
      </p:sp>
      <p:sp>
        <p:nvSpPr>
          <p:cNvPr id="34" name="Shape 29"/>
          <p:cNvSpPr/>
          <p:nvPr/>
        </p:nvSpPr>
        <p:spPr>
          <a:xfrm>
            <a:off x="1514394" y="3961940"/>
            <a:ext cx="18942" cy="2857500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35" name="Shape 30"/>
          <p:cNvSpPr/>
          <p:nvPr/>
        </p:nvSpPr>
        <p:spPr>
          <a:xfrm>
            <a:off x="1676346" y="5162035"/>
            <a:ext cx="1020555" cy="438096"/>
          </a:xfrm>
          <a:prstGeom prst="rect">
            <a:avLst/>
          </a:prstGeom>
          <a:solidFill>
            <a:srgbClr val="FFFFFF"/>
          </a:solidFill>
          <a:ln w="8659">
            <a:solidFill>
              <a:srgbClr val="E60000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1837405" y="5246895"/>
            <a:ext cx="774637" cy="306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FAIL</a:t>
            </a:r>
            <a:endParaRPr lang="en-US" sz="1800" dirty="0"/>
          </a:p>
        </p:txBody>
      </p:sp>
      <p:sp>
        <p:nvSpPr>
          <p:cNvPr id="37" name="Text 32"/>
          <p:cNvSpPr/>
          <p:nvPr/>
        </p:nvSpPr>
        <p:spPr>
          <a:xfrm>
            <a:off x="1695423" y="6114535"/>
            <a:ext cx="355591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1800" dirty="0"/>
          </a:p>
        </p:txBody>
      </p:sp>
      <p:sp>
        <p:nvSpPr>
          <p:cNvPr id="38" name="Text 33"/>
          <p:cNvSpPr/>
          <p:nvPr/>
        </p:nvSpPr>
        <p:spPr>
          <a:xfrm>
            <a:off x="1695423" y="6400285"/>
            <a:ext cx="1797397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/analyze</a:t>
            </a:r>
            <a:endParaRPr lang="en-US" sz="1800" dirty="0"/>
          </a:p>
        </p:txBody>
      </p:sp>
      <p:sp>
        <p:nvSpPr>
          <p:cNvPr id="39" name="Shape 34"/>
          <p:cNvSpPr/>
          <p:nvPr/>
        </p:nvSpPr>
        <p:spPr>
          <a:xfrm>
            <a:off x="1524000" y="6809834"/>
            <a:ext cx="3810000" cy="18942"/>
          </a:xfrm>
          <a:prstGeom prst="rect">
            <a:avLst/>
          </a:prstGeom>
          <a:solidFill>
            <a:srgbClr val="E60000"/>
          </a:solidFill>
          <a:ln/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34000" y="6752738"/>
            <a:ext cx="104721" cy="133269"/>
          </a:xfrm>
          <a:prstGeom prst="rect">
            <a:avLst/>
          </a:prstGeom>
        </p:spPr>
      </p:pic>
      <p:sp>
        <p:nvSpPr>
          <p:cNvPr id="41" name="Shape 35"/>
          <p:cNvSpPr/>
          <p:nvPr/>
        </p:nvSpPr>
        <p:spPr>
          <a:xfrm>
            <a:off x="5429250" y="5390690"/>
            <a:ext cx="6667500" cy="2857500"/>
          </a:xfrm>
          <a:prstGeom prst="rect">
            <a:avLst/>
          </a:prstGeom>
          <a:ln w="17318">
            <a:solidFill>
              <a:srgbClr val="E60000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5732318" y="5655604"/>
            <a:ext cx="6667499" cy="410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agent</a:t>
            </a:r>
            <a:endParaRPr lang="en-US" sz="2550" dirty="0"/>
          </a:p>
        </p:txBody>
      </p:sp>
      <p:sp>
        <p:nvSpPr>
          <p:cNvPr id="43" name="Text 37"/>
          <p:cNvSpPr/>
          <p:nvPr/>
        </p:nvSpPr>
        <p:spPr>
          <a:xfrm>
            <a:off x="5732318" y="6085041"/>
            <a:ext cx="6667499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767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· :8001 · GPT-5.4</a:t>
            </a:r>
            <a:endParaRPr lang="en-US" sz="1875" dirty="0"/>
          </a:p>
        </p:txBody>
      </p:sp>
      <p:sp>
        <p:nvSpPr>
          <p:cNvPr id="44" name="Shape 38"/>
          <p:cNvSpPr/>
          <p:nvPr/>
        </p:nvSpPr>
        <p:spPr>
          <a:xfrm>
            <a:off x="5732318" y="6514477"/>
            <a:ext cx="6061363" cy="9525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45" name="Text 39"/>
          <p:cNvSpPr/>
          <p:nvPr/>
        </p:nvSpPr>
        <p:spPr>
          <a:xfrm>
            <a:off x="5732318" y="6676294"/>
            <a:ext cx="6667499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Investigates the log with tools</a:t>
            </a:r>
            <a:endParaRPr lang="en-US" sz="1800" dirty="0"/>
          </a:p>
        </p:txBody>
      </p:sp>
      <p:sp>
        <p:nvSpPr>
          <p:cNvPr id="46" name="Text 40"/>
          <p:cNvSpPr/>
          <p:nvPr/>
        </p:nvSpPr>
        <p:spPr>
          <a:xfrm>
            <a:off x="5732318" y="7077995"/>
            <a:ext cx="3176587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summary</a:t>
            </a:r>
            <a:endParaRPr lang="en-US" sz="1875" dirty="0"/>
          </a:p>
        </p:txBody>
      </p:sp>
      <p:sp>
        <p:nvSpPr>
          <p:cNvPr id="47" name="Text 41"/>
          <p:cNvSpPr/>
          <p:nvPr/>
        </p:nvSpPr>
        <p:spPr>
          <a:xfrm>
            <a:off x="8905874" y="7077995"/>
            <a:ext cx="3176587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windows</a:t>
            </a:r>
            <a:endParaRPr lang="en-US" sz="1875" dirty="0"/>
          </a:p>
        </p:txBody>
      </p:sp>
      <p:sp>
        <p:nvSpPr>
          <p:cNvPr id="48" name="Text 42"/>
          <p:cNvSpPr/>
          <p:nvPr/>
        </p:nvSpPr>
        <p:spPr>
          <a:xfrm>
            <a:off x="5732318" y="7469277"/>
            <a:ext cx="3176587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per-source stats</a:t>
            </a:r>
            <a:endParaRPr lang="en-US" sz="1875" dirty="0"/>
          </a:p>
        </p:txBody>
      </p:sp>
      <p:sp>
        <p:nvSpPr>
          <p:cNvPr id="49" name="Text 43"/>
          <p:cNvSpPr/>
          <p:nvPr/>
        </p:nvSpPr>
        <p:spPr>
          <a:xfrm>
            <a:off x="8905874" y="7469277"/>
            <a:ext cx="3176587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search</a:t>
            </a:r>
            <a:endParaRPr lang="en-US" sz="1875" dirty="0"/>
          </a:p>
        </p:txBody>
      </p:sp>
      <p:sp>
        <p:nvSpPr>
          <p:cNvPr id="50" name="Shape 44"/>
          <p:cNvSpPr/>
          <p:nvPr/>
        </p:nvSpPr>
        <p:spPr>
          <a:xfrm>
            <a:off x="12096750" y="6809834"/>
            <a:ext cx="457173" cy="18942"/>
          </a:xfrm>
          <a:prstGeom prst="rect">
            <a:avLst/>
          </a:prstGeom>
          <a:solidFill>
            <a:srgbClr val="E60000"/>
          </a:solidFill>
          <a:ln/>
        </p:spPr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553922" y="6752738"/>
            <a:ext cx="104721" cy="133269"/>
          </a:xfrm>
          <a:prstGeom prst="rect">
            <a:avLst/>
          </a:prstGeom>
        </p:spPr>
      </p:pic>
      <p:sp>
        <p:nvSpPr>
          <p:cNvPr id="52" name="Shape 45"/>
          <p:cNvSpPr/>
          <p:nvPr/>
        </p:nvSpPr>
        <p:spPr>
          <a:xfrm>
            <a:off x="12763500" y="5390690"/>
            <a:ext cx="4572000" cy="2857500"/>
          </a:xfrm>
          <a:prstGeom prst="rect">
            <a:avLst/>
          </a:prstGeom>
          <a:ln w="8659">
            <a:solidFill>
              <a:srgbClr val="767676">
                <a:alpha val="35000"/>
              </a:srgbClr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13057909" y="5646945"/>
            <a:ext cx="4381500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</a:t>
            </a:r>
            <a:endParaRPr lang="en-US" sz="1800" dirty="0"/>
          </a:p>
        </p:txBody>
      </p:sp>
      <p:sp>
        <p:nvSpPr>
          <p:cNvPr id="54" name="Text 47"/>
          <p:cNvSpPr/>
          <p:nvPr/>
        </p:nvSpPr>
        <p:spPr>
          <a:xfrm>
            <a:off x="13057909" y="6048645"/>
            <a:ext cx="43815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</a:t>
            </a:r>
            <a:endParaRPr lang="en-US" sz="1950" dirty="0"/>
          </a:p>
        </p:txBody>
      </p:sp>
      <p:sp>
        <p:nvSpPr>
          <p:cNvPr id="55" name="Text 48"/>
          <p:cNvSpPr/>
          <p:nvPr/>
        </p:nvSpPr>
        <p:spPr>
          <a:xfrm>
            <a:off x="13057909" y="6448587"/>
            <a:ext cx="43815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950" dirty="0"/>
          </a:p>
        </p:txBody>
      </p:sp>
      <p:sp>
        <p:nvSpPr>
          <p:cNvPr id="56" name="Text 49"/>
          <p:cNvSpPr/>
          <p:nvPr/>
        </p:nvSpPr>
        <p:spPr>
          <a:xfrm>
            <a:off x="13057909" y="6848529"/>
            <a:ext cx="43815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Explanation</a:t>
            </a:r>
            <a:endParaRPr lang="en-US" sz="1950" dirty="0"/>
          </a:p>
        </p:txBody>
      </p:sp>
      <p:sp>
        <p:nvSpPr>
          <p:cNvPr id="57" name="Text 50"/>
          <p:cNvSpPr/>
          <p:nvPr/>
        </p:nvSpPr>
        <p:spPr>
          <a:xfrm>
            <a:off x="13057909" y="7248470"/>
            <a:ext cx="43815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950" dirty="0"/>
          </a:p>
        </p:txBody>
      </p:sp>
      <p:sp>
        <p:nvSpPr>
          <p:cNvPr id="58" name="Text 51"/>
          <p:cNvSpPr/>
          <p:nvPr/>
        </p:nvSpPr>
        <p:spPr>
          <a:xfrm>
            <a:off x="13057909" y="7648412"/>
            <a:ext cx="43815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Cited evidence</a:t>
            </a:r>
            <a:endParaRPr lang="en-US" sz="1950" dirty="0"/>
          </a:p>
        </p:txBody>
      </p:sp>
      <p:sp>
        <p:nvSpPr>
          <p:cNvPr id="59" name="Shape 52"/>
          <p:cNvSpPr/>
          <p:nvPr/>
        </p:nvSpPr>
        <p:spPr>
          <a:xfrm>
            <a:off x="952500" y="9105981"/>
            <a:ext cx="16382999" cy="9525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60" name="Text 53"/>
          <p:cNvSpPr/>
          <p:nvPr/>
        </p:nvSpPr>
        <p:spPr>
          <a:xfrm>
            <a:off x="952500" y="9343240"/>
            <a:ext cx="16874489" cy="315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calls are issued by the browser, same-origin through Next.js rewrites. The parser never calls the agent.</a:t>
            </a:r>
            <a:endParaRPr lang="en-US" sz="18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4877"/>
            <a:ext cx="47625" cy="419019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3" name="Text 1"/>
          <p:cNvSpPr/>
          <p:nvPr/>
        </p:nvSpPr>
        <p:spPr>
          <a:xfrm>
            <a:off x="1209567" y="762000"/>
            <a:ext cx="5960268" cy="523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 what we sketched.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52500" y="1475428"/>
            <a:ext cx="16382999" cy="9525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1808668"/>
            <a:ext cx="10921683" cy="7286895"/>
          </a:xfrm>
          <a:prstGeom prst="rect">
            <a:avLst/>
          </a:prstGeom>
          <a:ln w="8659">
            <a:solidFill>
              <a:srgbClr val="767676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445683" y="2973045"/>
            <a:ext cx="5378797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agnostic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12445683" y="3362704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8" name="Text 6"/>
          <p:cNvSpPr/>
          <p:nvPr/>
        </p:nvSpPr>
        <p:spPr>
          <a:xfrm>
            <a:off x="12445683" y="3524520"/>
            <a:ext cx="5036510" cy="1109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906"/>
              </a:lnSpc>
              <a:buNone/>
            </a:pPr>
            <a:r>
              <a:rPr lang="en-US" sz="1875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Shipped. Airflow, Postgres, syslog, nginx, JSON and Java stack traces — no configuration.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2445683" y="5015102"/>
            <a:ext cx="5378797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 / file / status / description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2445683" y="5387443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11" name="Text 9"/>
          <p:cNvSpPr/>
          <p:nvPr/>
        </p:nvSpPr>
        <p:spPr>
          <a:xfrm>
            <a:off x="12445683" y="5549260"/>
            <a:ext cx="503651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906"/>
              </a:lnSpc>
              <a:buNone/>
            </a:pPr>
            <a:r>
              <a:rPr lang="en-US" sz="1875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unchanged. Still the parser's contract today.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2445683" y="6682653"/>
            <a:ext cx="5378797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severity / explanation / solutions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2445683" y="7054994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12445683" y="7216811"/>
            <a:ext cx="503651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906"/>
              </a:lnSpc>
              <a:buNone/>
            </a:pPr>
            <a:r>
              <a:rPr lang="en-US" sz="1875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— plus one we added later: the evidence behind each claim.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952500" y="9343159"/>
            <a:ext cx="18021299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one whiteboard. Four weeks later the contract hasn't changed.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4877"/>
            <a:ext cx="47625" cy="419019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3" name="Text 1"/>
          <p:cNvSpPr/>
          <p:nvPr/>
        </p:nvSpPr>
        <p:spPr>
          <a:xfrm>
            <a:off x="1209567" y="762000"/>
            <a:ext cx="9311729" cy="523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that sounds right isn't good enough.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52500" y="1475428"/>
            <a:ext cx="16382999" cy="9525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1694340"/>
            <a:ext cx="8334970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risk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952500" y="2084000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2283970"/>
            <a:ext cx="7804563" cy="780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language model will produce a fluent, confident root cause whether or not the evidence supports it.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52500" y="3140950"/>
            <a:ext cx="7804563" cy="780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an incident, a confident wrong answer is worse than no answer at all.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139264" y="1694340"/>
            <a:ext cx="9525" cy="2199138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758254" y="1694340"/>
            <a:ext cx="8334970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9758254" y="2084000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9758254" y="2407768"/>
            <a:ext cx="76173" cy="7617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9986773" y="2283970"/>
            <a:ext cx="4993035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09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must cite specific line numbers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758254" y="2867241"/>
            <a:ext cx="76173" cy="7617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9986773" y="2743443"/>
            <a:ext cx="7569188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09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 and statistics are computed from the data, never taken from the model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9758254" y="3671996"/>
            <a:ext cx="76173" cy="7617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9986773" y="3548198"/>
            <a:ext cx="7711380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09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evidence is insufficient” is a valid answer the system can give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952500" y="4994807"/>
            <a:ext cx="10886181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claim earns its place in the answer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952500" y="5384466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952500" y="5603514"/>
            <a:ext cx="9896528" cy="560947"/>
          </a:xfrm>
          <a:prstGeom prst="rect">
            <a:avLst/>
          </a:prstGeom>
          <a:solidFill>
            <a:srgbClr val="767676">
              <a:alpha val="8000"/>
            </a:srgbClr>
          </a:solidFill>
          <a:ln w="8659">
            <a:solidFill>
              <a:srgbClr val="767676">
                <a:alpha val="3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51659" y="5754101"/>
            <a:ext cx="438123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04082" y="5745442"/>
            <a:ext cx="3143250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asserts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4752082" y="5754101"/>
            <a:ext cx="3592264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cause, with cited line numbers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2500" y="6278652"/>
            <a:ext cx="9896528" cy="560947"/>
          </a:xfrm>
          <a:prstGeom prst="rect">
            <a:avLst/>
          </a:prstGeom>
          <a:solidFill>
            <a:srgbClr val="767676">
              <a:alpha val="8000"/>
            </a:srgbClr>
          </a:solidFill>
          <a:ln w="8659">
            <a:solidFill>
              <a:srgbClr val="767676">
                <a:alpha val="3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51659" y="6429240"/>
            <a:ext cx="438123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704082" y="6420580"/>
            <a:ext cx="3143250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check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4752082" y="6429240"/>
            <a:ext cx="5004346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citation matched against the source log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2500" y="6953791"/>
            <a:ext cx="9896528" cy="560947"/>
          </a:xfrm>
          <a:prstGeom prst="rect">
            <a:avLst/>
          </a:prstGeom>
          <a:solidFill>
            <a:srgbClr val="767676">
              <a:alpha val="8000"/>
            </a:srgbClr>
          </a:solidFill>
          <a:ln w="8659">
            <a:solidFill>
              <a:srgbClr val="767676">
                <a:alpha val="3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51659" y="7104378"/>
            <a:ext cx="438123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704082" y="7095719"/>
            <a:ext cx="3143250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Fabrications deleted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4752082" y="7104378"/>
            <a:ext cx="5653236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that doesn't verify never reaches the user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52500" y="7628930"/>
            <a:ext cx="9896528" cy="578265"/>
          </a:xfrm>
          <a:prstGeom prst="rect">
            <a:avLst/>
          </a:prstGeom>
          <a:ln w="17318">
            <a:solidFill>
              <a:srgbClr val="E6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60318" y="7788176"/>
            <a:ext cx="438123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712741" y="7779516"/>
            <a:ext cx="3143250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Shown with evidence</a:t>
            </a:r>
            <a:endParaRPr lang="en-US" sz="1875" dirty="0"/>
          </a:p>
        </p:txBody>
      </p:sp>
      <p:sp>
        <p:nvSpPr>
          <p:cNvPr id="35" name="Text 33"/>
          <p:cNvSpPr/>
          <p:nvPr/>
        </p:nvSpPr>
        <p:spPr>
          <a:xfrm>
            <a:off x="4760741" y="7788176"/>
            <a:ext cx="4473178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engineer sees the lines that prove it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52500" y="8454790"/>
            <a:ext cx="10886181" cy="349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our evaluation: 17 of 17 citations verified correct.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11420528" y="4141075"/>
            <a:ext cx="9525" cy="5479175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2001500" y="4141075"/>
            <a:ext cx="5867400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engineer actually sees</a:t>
            </a:r>
            <a:endParaRPr lang="en-US" sz="1875" dirty="0"/>
          </a:p>
        </p:txBody>
      </p:sp>
      <p:sp>
        <p:nvSpPr>
          <p:cNvPr id="39" name="Shape 37"/>
          <p:cNvSpPr/>
          <p:nvPr/>
        </p:nvSpPr>
        <p:spPr>
          <a:xfrm>
            <a:off x="12001500" y="4513416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40" name="Shape 38"/>
          <p:cNvSpPr/>
          <p:nvPr/>
        </p:nvSpPr>
        <p:spPr>
          <a:xfrm>
            <a:off x="12001500" y="4694309"/>
            <a:ext cx="5334000" cy="4925940"/>
          </a:xfrm>
          <a:prstGeom prst="rect">
            <a:avLst/>
          </a:prstGeom>
          <a:ln w="8659">
            <a:solidFill>
              <a:srgbClr val="767676">
                <a:alpha val="3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4095750"/>
            <a:ext cx="57096" cy="2190750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3" name="Text 1"/>
          <p:cNvSpPr/>
          <p:nvPr/>
        </p:nvSpPr>
        <p:spPr>
          <a:xfrm>
            <a:off x="1371519" y="4050831"/>
            <a:ext cx="957054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371519" y="4527081"/>
            <a:ext cx="9570541" cy="8762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29"/>
              </a:lnSpc>
              <a:buNone/>
            </a:pPr>
            <a:r>
              <a:rPr lang="en-US" sz="6600" b="1" spc="-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 walkthrough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1371519" y="5574695"/>
            <a:ext cx="9570541" cy="384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Rosetta Log Analyzer in action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519" y="6054328"/>
            <a:ext cx="9570541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a failing log · read the cause · check the cited lines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4877"/>
            <a:ext cx="47625" cy="419019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3" name="Text 1"/>
          <p:cNvSpPr/>
          <p:nvPr/>
        </p:nvSpPr>
        <p:spPr>
          <a:xfrm>
            <a:off x="1209567" y="762000"/>
            <a:ext cx="11161812" cy="523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tested it on failures where we knew the answer.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52500" y="1475428"/>
            <a:ext cx="16382999" cy="9525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1675399"/>
            <a:ext cx="156972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906"/>
              </a:lnSpc>
              <a:buNone/>
            </a:pPr>
            <a:r>
              <a:rPr lang="en-US" sz="1875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synthetic logs — four incidents and one healthy run, 186 to 496 lines each, with the true cause deliberately buried under unrelated errors. The model was not told the answer.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952500" y="3470266"/>
            <a:ext cx="7848654" cy="9525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3007952"/>
            <a:ext cx="364926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identified correctly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607011" y="2808793"/>
            <a:ext cx="1313557" cy="56630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of 4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952500" y="4273667"/>
            <a:ext cx="7848654" cy="9525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3811353"/>
            <a:ext cx="31496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citations verified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098425" y="3612194"/>
            <a:ext cx="1873002" cy="56630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of 17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952500" y="5077068"/>
            <a:ext cx="7848654" cy="9525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4614754"/>
            <a:ext cx="215071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range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767079" y="4415595"/>
            <a:ext cx="2237482" cy="56630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0.86–0.98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952500" y="5880470"/>
            <a:ext cx="7848654" cy="9525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5418155"/>
            <a:ext cx="212452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per analysis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148485" y="5218996"/>
            <a:ext cx="1817935" cy="56630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14–17 s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952500" y="6683871"/>
            <a:ext cx="7848654" cy="9525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" y="6221557"/>
            <a:ext cx="35584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alarms on a healthy log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7709026" y="6022398"/>
            <a:ext cx="1168328" cy="56630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952500" y="6940126"/>
            <a:ext cx="7848654" cy="2249199"/>
          </a:xfrm>
          <a:prstGeom prst="rect">
            <a:avLst/>
          </a:prstGeom>
          <a:solidFill>
            <a:srgbClr val="767676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52500" y="6940126"/>
            <a:ext cx="34636" cy="2249199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1253809" y="7168644"/>
            <a:ext cx="7499092" cy="1830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906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277-line outage log the true cause is a quiet </a:t>
            </a:r>
            <a:pPr algn="l" indent="0" marL="0">
              <a:lnSpc>
                <a:spcPct val="128906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WARNING: archive_command failed </a:t>
            </a:r>
            <a:pPr algn="l" indent="0" marL="0">
              <a:lnSpc>
                <a:spcPct val="128906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line 55 — 94 lines before the first error, in a different log format. Everything a human notices first is downstream noise. Rosetta named the archive failure and recommended fixing WAL archiving, not just freeing disk space.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9486845" y="3530473"/>
            <a:ext cx="8633519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log. Same second.</a:t>
            </a:r>
            <a:endParaRPr lang="en-US" sz="2025" dirty="0"/>
          </a:p>
        </p:txBody>
      </p:sp>
      <p:sp>
        <p:nvSpPr>
          <p:cNvPr id="25" name="Shape 23"/>
          <p:cNvSpPr/>
          <p:nvPr/>
        </p:nvSpPr>
        <p:spPr>
          <a:xfrm>
            <a:off x="9486845" y="3920133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9486845" y="4158122"/>
            <a:ext cx="7848654" cy="1336882"/>
          </a:xfrm>
          <a:prstGeom prst="rect">
            <a:avLst/>
          </a:prstGeom>
          <a:solidFill>
            <a:srgbClr val="767676">
              <a:alpha val="12000"/>
            </a:srgbClr>
          </a:solidFill>
          <a:ln w="8659">
            <a:solidFill>
              <a:srgbClr val="767676">
                <a:alpha val="3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00196" y="4433454"/>
            <a:ext cx="794414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parser alone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800196" y="4890627"/>
            <a:ext cx="7944147" cy="367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67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Category: FAILURE_GENERIC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13401702" y="5628273"/>
            <a:ext cx="18942" cy="247596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9486845" y="6009138"/>
            <a:ext cx="7848654" cy="2756161"/>
          </a:xfrm>
          <a:prstGeom prst="rect">
            <a:avLst/>
          </a:prstGeom>
          <a:ln w="17318">
            <a:solidFill>
              <a:srgbClr val="E6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08856" y="6293129"/>
            <a:ext cx="792509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Rosetta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9808856" y="6750303"/>
            <a:ext cx="7420773" cy="811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56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payments-api v4.7.2 introduced a null PromotionRule crash on charge requests.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9808856" y="7656666"/>
            <a:ext cx="7925097" cy="342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00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9808856" y="8094762"/>
            <a:ext cx="7925097" cy="424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56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back payments-api to the previous release.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4877"/>
            <a:ext cx="47625" cy="419019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3" name="Text 1"/>
          <p:cNvSpPr/>
          <p:nvPr/>
        </p:nvSpPr>
        <p:spPr>
          <a:xfrm>
            <a:off x="1209567" y="762000"/>
            <a:ext cx="4097833" cy="523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is worth.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52500" y="1475428"/>
            <a:ext cx="16382999" cy="9525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944767"/>
            <a:ext cx="8434387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triage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952500" y="3360404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3541298"/>
            <a:ext cx="7897654" cy="780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engineer starts at the cause instead of scrolling to it — 14–17 seconds instead of a manual read of 500 lines.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667874" y="2944767"/>
            <a:ext cx="8434387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dependence on tribal knowledge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9667874" y="3360404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10" name="Text 8"/>
          <p:cNvSpPr/>
          <p:nvPr/>
        </p:nvSpPr>
        <p:spPr>
          <a:xfrm>
            <a:off x="9667874" y="3541298"/>
            <a:ext cx="7897654" cy="780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junior on-call gets the same explanation a senior would have written, with the evidence attached.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52500" y="6353473"/>
            <a:ext cx="8434387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at 3am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952500" y="6769109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6950003"/>
            <a:ext cx="7897654" cy="780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analysis doesn't degrade with the hour, the queue, or who happens to be on call.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667874" y="6353473"/>
            <a:ext cx="8434387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that persists</a:t>
            </a:r>
            <a:endParaRPr lang="en-US" sz="2175" dirty="0"/>
          </a:p>
        </p:txBody>
      </p:sp>
      <p:sp>
        <p:nvSpPr>
          <p:cNvPr id="15" name="Shape 13"/>
          <p:cNvSpPr/>
          <p:nvPr/>
        </p:nvSpPr>
        <p:spPr>
          <a:xfrm>
            <a:off x="9667874" y="6769109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9667874" y="6950003"/>
            <a:ext cx="7897654" cy="780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incident leaves a written, evidence-backed explanation instead of a closed ticket.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52500" y="9152659"/>
            <a:ext cx="16382999" cy="9525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52500" y="9351818"/>
            <a:ext cx="16874489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Log-agnostic by design: Airflow, Postgres, syslog, nginx, JSON and Java stack traces analysed without configuration.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4877"/>
            <a:ext cx="47625" cy="419019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3" name="Text 1"/>
          <p:cNvSpPr/>
          <p:nvPr/>
        </p:nvSpPr>
        <p:spPr>
          <a:xfrm>
            <a:off x="1209567" y="762000"/>
            <a:ext cx="8128545" cy="523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Challenges, lessons, and what's next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52500" y="1475428"/>
            <a:ext cx="16382999" cy="9525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1827745"/>
            <a:ext cx="5150643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952500" y="2217404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2474470"/>
            <a:ext cx="5150643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before engineering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952500" y="2808657"/>
            <a:ext cx="4822875" cy="1032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84"/>
              </a:lnSpc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 configuration, port conflicts and inconsistent startup cost roughly two days before feature work began.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52500" y="3879273"/>
            <a:ext cx="4822875" cy="701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84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</a:t>
            </a:r>
            <a:pPr algn="l" indent="0" marL="0">
              <a:lnSpc>
                <a:spcPct val="123484"/>
              </a:lnSpc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browser traffic routed same-origin; startup standardised in one script.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52500" y="4827984"/>
            <a:ext cx="5150643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was the blocker, not the AI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952500" y="5162171"/>
            <a:ext cx="4822875" cy="701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84"/>
              </a:lnSpc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worked from the command line long before the UI could display anything.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2500" y="5901305"/>
            <a:ext cx="4822875" cy="701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84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</a:t>
            </a:r>
            <a:pPr algn="l" indent="0" marL="0">
              <a:lnSpc>
                <a:spcPct val="123484"/>
              </a:lnSpc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shape frozen as a formal contract so both sides could build in parallel.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320595" y="1827745"/>
            <a:ext cx="9525" cy="6850559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015758" y="1827745"/>
            <a:ext cx="4682281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7015758" y="2217404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7015758" y="2598268"/>
            <a:ext cx="76173" cy="7617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7244276" y="2474470"/>
            <a:ext cx="4148944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09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the data contract before integrating, not during.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7015758" y="3498273"/>
            <a:ext cx="76173" cy="7617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7244276" y="3374475"/>
            <a:ext cx="4148944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09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AI to be checkable, not just convincing.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7015758" y="4398277"/>
            <a:ext cx="76173" cy="7617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7244276" y="4274479"/>
            <a:ext cx="4148944" cy="141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09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deterministic offline mode kept the demo alive and unblocked the UI team before the model was connected.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11958069" y="1827745"/>
            <a:ext cx="9525" cy="6850559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2653231" y="1827745"/>
            <a:ext cx="5150495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12653231" y="2217404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12653231" y="2598268"/>
            <a:ext cx="76173" cy="7617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12881750" y="2474470"/>
            <a:ext cx="4587362" cy="714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31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analysis from operational alerts instead of manual upload.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2653231" y="3445912"/>
            <a:ext cx="76173" cy="7617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12881750" y="3322114"/>
            <a:ext cx="4587362" cy="714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31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 active failures from already-resolved history.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2653231" y="4293556"/>
            <a:ext cx="76173" cy="7617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12881750" y="4169758"/>
            <a:ext cx="4587362" cy="714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31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Correlate with metrics, traces and recent deploys — not just the log.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12653231" y="5141200"/>
            <a:ext cx="76173" cy="7617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12881750" y="5017402"/>
            <a:ext cx="4587362" cy="714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31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with DIGIT so analysis appears in tooling engineers already use.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12653231" y="5988844"/>
            <a:ext cx="76173" cy="76173"/>
          </a:xfrm>
          <a:prstGeom prst="ellipse">
            <a:avLst/>
          </a:prstGeom>
          <a:solidFill>
            <a:srgbClr val="E6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12881750" y="5865045"/>
            <a:ext cx="4587362" cy="714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31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→ proactive → supervised self-healing.</a:t>
            </a:r>
            <a:endParaRPr lang="en-US" sz="1875" dirty="0"/>
          </a:p>
        </p:txBody>
      </p:sp>
      <p:sp>
        <p:nvSpPr>
          <p:cNvPr id="35" name="Shape 33"/>
          <p:cNvSpPr/>
          <p:nvPr/>
        </p:nvSpPr>
        <p:spPr>
          <a:xfrm>
            <a:off x="952500" y="8964053"/>
            <a:ext cx="16382999" cy="9525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952500" y="9201231"/>
            <a:ext cx="47625" cy="419019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1209567" y="9224502"/>
            <a:ext cx="1781473" cy="410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550" dirty="0"/>
          </a:p>
        </p:txBody>
      </p:sp>
      <p:sp>
        <p:nvSpPr>
          <p:cNvPr id="38" name="Text 36"/>
          <p:cNvSpPr/>
          <p:nvPr/>
        </p:nvSpPr>
        <p:spPr>
          <a:xfrm>
            <a:off x="3171798" y="9272127"/>
            <a:ext cx="7415361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Rosetta — built by Group V, summer 2026. Questions welcome.</a:t>
            </a:r>
            <a:endParaRPr lang="en-US" sz="18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2026-07-30T15:02:14Z</dcterms:created>
  <dcterms:modified xsi:type="dcterms:W3CDTF">2026-07-30T15:02:14Z</dcterms:modified>
</cp:coreProperties>
</file>